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</p:sldIdLst>
  <p:sldSz cx="18288000" cy="10287000"/>
  <p:notesSz cx="6858000" cy="9144000"/>
  <p:embeddedFontLst>
    <p:embeddedFont>
      <p:font typeface="Arial Bold" panose="020B0704020202020204" pitchFamily="34" charset="0"/>
      <p:bold r:id="rId8"/>
    </p:embeddedFont>
    <p:embeddedFont>
      <p:font typeface="Arial Rounded MT Bold" panose="020F0704030504030204" pitchFamily="34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aramond Bold" panose="02020804030307010803" pitchFamily="18" charset="0"/>
      <p:bold r:id="rId14"/>
    </p:embeddedFont>
    <p:embeddedFont>
      <p:font typeface="Monda" panose="020B0604020202020204" charset="0"/>
      <p:regular r:id="rId15"/>
    </p:embeddedFont>
    <p:embeddedFont>
      <p:font typeface="Monda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E97FA2A-A77A-487D-AEF9-E6CFCA7EF7C4}"/>
              </a:ext>
            </a:extLst>
          </p:cNvPr>
          <p:cNvSpPr txBox="1">
            <a:spLocks/>
          </p:cNvSpPr>
          <p:nvPr/>
        </p:nvSpPr>
        <p:spPr>
          <a:xfrm>
            <a:off x="4069242" y="2892260"/>
            <a:ext cx="9906000" cy="573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6000" dirty="0">
                <a:solidFill>
                  <a:srgbClr val="002060"/>
                </a:solidFill>
                <a:latin typeface="Arial Rounded MT Bold" panose="020F0704030504030204" pitchFamily="34" charset="0"/>
                <a:ea typeface="Garamond Bold"/>
                <a:cs typeface="Garamond Bold"/>
                <a:sym typeface="Garamond Bold"/>
              </a:rPr>
              <a:t>OPEN AI ACADEMY </a:t>
            </a:r>
            <a:r>
              <a:rPr lang="en-US" sz="7200" b="1" dirty="0">
                <a:solidFill>
                  <a:schemeClr val="tx1"/>
                </a:solidFill>
                <a:latin typeface="Arial Rounded MT Bold" panose="020F0704030504030204" pitchFamily="34" charset="0"/>
                <a:ea typeface="Garamond Bold"/>
                <a:cs typeface="Garamond Bold"/>
                <a:sym typeface="Garamond Bold"/>
              </a:rPr>
              <a:t>X</a:t>
            </a:r>
            <a:r>
              <a:rPr lang="en-US" sz="6000" dirty="0">
                <a:solidFill>
                  <a:srgbClr val="002060"/>
                </a:solidFill>
                <a:latin typeface="Arial Rounded MT Bold" panose="020F0704030504030204" pitchFamily="34" charset="0"/>
                <a:ea typeface="Garamond Bold"/>
                <a:cs typeface="Garamond Bold"/>
                <a:sym typeface="Garamond Bold"/>
              </a:rPr>
              <a:t> NXT WAVE BUILDATHON </a:t>
            </a:r>
          </a:p>
          <a:p>
            <a:pPr algn="ctr">
              <a:spcBef>
                <a:spcPts val="0"/>
              </a:spcBef>
            </a:pPr>
            <a:endParaRPr lang="en-IN" sz="4400" b="1" dirty="0"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61470-1AAD-425C-9838-967D14AB0C2E}"/>
              </a:ext>
            </a:extLst>
          </p:cNvPr>
          <p:cNvSpPr txBox="1"/>
          <p:nvPr/>
        </p:nvSpPr>
        <p:spPr>
          <a:xfrm>
            <a:off x="1295400" y="2486837"/>
            <a:ext cx="14205181" cy="7180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7821" lvl="1" algn="just">
              <a:lnSpc>
                <a:spcPct val="150000"/>
              </a:lnSpc>
            </a:pPr>
            <a:endParaRPr lang="en-US" sz="24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55643" lvl="1" indent="-277822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 AI Chatbot for Career and Skills advisor.</a:t>
            </a:r>
          </a:p>
          <a:p>
            <a:pPr marL="555643" lvl="1" indent="-277822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– Education for India</a:t>
            </a:r>
          </a:p>
          <a:p>
            <a:pPr marL="555643" lvl="1" indent="-277822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Tagline – “</a:t>
            </a:r>
            <a:r>
              <a:rPr lang="en-US" sz="3600" dirty="0">
                <a:latin typeface="Arial Rounded MT Bold" panose="020F0704030504030204" pitchFamily="34" charset="0"/>
                <a:cs typeface="Arial Bold" panose="020B0704020202020204" pitchFamily="34" charset="0"/>
              </a:rPr>
              <a:t>Your AI Mentor for Smarter Career Choices</a:t>
            </a:r>
            <a:r>
              <a:rPr lang="en-US" sz="3600" dirty="0"/>
              <a:t>”</a:t>
            </a:r>
            <a:endParaRPr lang="en-US" sz="36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55643" lvl="1" indent="-277822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marL="555643" lvl="1" indent="-277822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Tech Titans.</a:t>
            </a:r>
          </a:p>
          <a:p>
            <a:pPr marL="555643" lvl="1" indent="-277822" algn="just">
              <a:lnSpc>
                <a:spcPct val="15000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Members – Shivam Kawatra (Leader), Arpit Sharma,  Abhishek Kumar Gupta &amp; </a:t>
            </a:r>
            <a:r>
              <a:rPr lang="en-US" sz="36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Kshitij</a:t>
            </a:r>
            <a:r>
              <a:rPr lang="en-US" sz="36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Varshney</a:t>
            </a:r>
            <a:r>
              <a:rPr lang="en-US" sz="4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  <a:endParaRPr lang="en-US" sz="4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00">
        <p:split orient="vert"/>
      </p:transition>
    </mc:Choice>
    <mc:Fallback xmlns="">
      <p:transition spd="slow" advTm="100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03572" y="2505872"/>
            <a:ext cx="13672177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struggle to:	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right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specialization in CSE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(AI/ML, DS, Cybersecurity, etc.).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a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step-by-step skill roadmap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authentic free/paid resources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among scattered options online.</a:t>
            </a:r>
          </a:p>
          <a:p>
            <a:pPr lvl="2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Career counseling services are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limited, expensive, or generic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40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a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24×7 digital advisor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is 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personalized &amp; scalable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en-US" sz="4000" dirty="0">
              <a:solidFill>
                <a:srgbClr val="002B58"/>
              </a:solidFill>
              <a:latin typeface="Arial" panose="020B0604020202020204" pitchFamily="34" charset="0"/>
              <a:ea typeface="Monda"/>
              <a:cs typeface="Arial" panose="020B0604020202020204" pitchFamily="34" charset="0"/>
              <a:sym typeface="Mond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21481" y="605699"/>
            <a:ext cx="11314311" cy="132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IN" sz="72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PROBLEM STATEMENT</a:t>
            </a:r>
            <a:endParaRPr lang="en-US" sz="7200" b="1" dirty="0">
              <a:solidFill>
                <a:srgbClr val="002060"/>
              </a:solidFill>
              <a:latin typeface="Arial Rounded MT Bold" panose="020F0704030504030204" pitchFamily="34" charset="0"/>
              <a:ea typeface="Monda Bold"/>
              <a:cs typeface="Monda Bold"/>
              <a:sym typeface="Monda Bold"/>
            </a:endParaRPr>
          </a:p>
        </p:txBody>
      </p:sp>
    </p:spTree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28364" y="854145"/>
            <a:ext cx="12660186" cy="1302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7200" dirty="0">
                <a:solidFill>
                  <a:srgbClr val="002B58"/>
                </a:solidFill>
                <a:latin typeface="Arial Rounded MT Bold" panose="020F0704030504030204" pitchFamily="34" charset="0"/>
                <a:ea typeface="Monda Bold"/>
                <a:cs typeface="Monda Bold"/>
                <a:sym typeface="Monda Bold"/>
              </a:rPr>
              <a:t>PROPOSED SOLUTION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487509" y="3508600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6"/>
                </a:lnTo>
                <a:lnTo>
                  <a:pt x="0" y="801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20300" y="2553850"/>
            <a:ext cx="9087396" cy="4137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solidFill>
                  <a:srgbClr val="002060"/>
                </a:solidFill>
                <a:cs typeface="Arial" panose="020B0604020202020204" pitchFamily="34" charset="0"/>
              </a:rPr>
              <a:t>A </a:t>
            </a:r>
            <a:r>
              <a:rPr lang="en-US" sz="4000" b="1" dirty="0">
                <a:solidFill>
                  <a:srgbClr val="002060"/>
                </a:solidFill>
                <a:cs typeface="Arial" panose="020B0604020202020204" pitchFamily="34" charset="0"/>
              </a:rPr>
              <a:t>Chatbot powered by AI</a:t>
            </a:r>
            <a:r>
              <a:rPr lang="en-US" sz="4000" dirty="0">
                <a:solidFill>
                  <a:srgbClr val="002060"/>
                </a:solidFill>
                <a:cs typeface="Arial" panose="020B0604020202020204" pitchFamily="34" charset="0"/>
              </a:rPr>
              <a:t> that</a:t>
            </a: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Acts as a </a:t>
            </a:r>
            <a:r>
              <a:rPr lang="en-US" sz="3200" b="1" dirty="0">
                <a:solidFill>
                  <a:srgbClr val="002060"/>
                </a:solidFill>
                <a:cs typeface="Arial" panose="020B0604020202020204" pitchFamily="34" charset="0"/>
              </a:rPr>
              <a:t>personal career mentor</a:t>
            </a: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Provides </a:t>
            </a:r>
            <a:r>
              <a:rPr lang="en-US" sz="3200" b="1" dirty="0">
                <a:solidFill>
                  <a:srgbClr val="002060"/>
                </a:solidFill>
                <a:cs typeface="Arial" panose="020B0604020202020204" pitchFamily="34" charset="0"/>
              </a:rPr>
              <a:t>structured roadmaps</a:t>
            </a: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 for different CSE fields.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Suggests </a:t>
            </a:r>
            <a:r>
              <a:rPr lang="en-US" sz="3200" b="1" dirty="0">
                <a:solidFill>
                  <a:srgbClr val="002060"/>
                </a:solidFill>
                <a:cs typeface="Arial" panose="020B0604020202020204" pitchFamily="34" charset="0"/>
              </a:rPr>
              <a:t>curated online resources</a:t>
            </a: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 (MOOCs, YouTube, GitHub projects).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060"/>
                </a:solidFill>
                <a:cs typeface="Arial" panose="020B0604020202020204" pitchFamily="34" charset="0"/>
              </a:rPr>
              <a:t>Answers career-related queries instantly</a:t>
            </a:r>
            <a:r>
              <a:rPr 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ts val="4555"/>
              </a:lnSpc>
            </a:pPr>
            <a:endParaRPr lang="en-US" sz="32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70361" y="6399494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27226" y="6442725"/>
            <a:ext cx="10032869" cy="580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5"/>
              </a:lnSpc>
            </a:pPr>
            <a:r>
              <a:rPr lang="en-IN" sz="3600" dirty="0">
                <a:solidFill>
                  <a:srgbClr val="002060"/>
                </a:solidFill>
              </a:rPr>
              <a:t>Designed for </a:t>
            </a:r>
            <a:r>
              <a:rPr lang="en-IN" sz="3600" b="1" dirty="0" err="1">
                <a:solidFill>
                  <a:srgbClr val="002060"/>
                </a:solidFill>
              </a:rPr>
              <a:t>OpenAI</a:t>
            </a:r>
            <a:r>
              <a:rPr lang="en-IN" sz="3600" b="1" dirty="0">
                <a:solidFill>
                  <a:srgbClr val="002060"/>
                </a:solidFill>
              </a:rPr>
              <a:t> API integration</a:t>
            </a:r>
            <a:r>
              <a:rPr lang="en-IN" sz="3600" dirty="0">
                <a:solidFill>
                  <a:srgbClr val="002060"/>
                </a:solidFill>
              </a:rPr>
              <a:t>.</a:t>
            </a:r>
            <a:endParaRPr lang="en-US" sz="3253" dirty="0">
              <a:solidFill>
                <a:srgbClr val="002060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4BEB842-5585-4AF3-8D5A-FBE78C8AB5EA}"/>
              </a:ext>
            </a:extLst>
          </p:cNvPr>
          <p:cNvSpPr/>
          <p:nvPr/>
        </p:nvSpPr>
        <p:spPr>
          <a:xfrm>
            <a:off x="1473387" y="7613453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6D838BE1-F683-404F-8C5E-AEA2A45E5138}"/>
              </a:ext>
            </a:extLst>
          </p:cNvPr>
          <p:cNvSpPr txBox="1"/>
          <p:nvPr/>
        </p:nvSpPr>
        <p:spPr>
          <a:xfrm>
            <a:off x="2727226" y="7491162"/>
            <a:ext cx="10032869" cy="174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5"/>
              </a:lnSpc>
            </a:pPr>
            <a:r>
              <a:rPr lang="en-US" sz="3600" b="1" dirty="0">
                <a:solidFill>
                  <a:srgbClr val="002060"/>
                </a:solidFill>
              </a:rPr>
              <a:t>Prototype</a:t>
            </a:r>
            <a:r>
              <a:rPr lang="en-US" sz="3600" dirty="0">
                <a:solidFill>
                  <a:srgbClr val="002060"/>
                </a:solidFill>
              </a:rPr>
              <a:t> built with Hugging Face for free testing &amp; demo.</a:t>
            </a:r>
          </a:p>
          <a:p>
            <a:pPr algn="l">
              <a:lnSpc>
                <a:spcPts val="4555"/>
              </a:lnSpc>
            </a:pPr>
            <a:endParaRPr lang="en-US" sz="32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18A14A-C2E9-4618-ACC7-86079FB5F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087" y="3071096"/>
            <a:ext cx="4820981" cy="3615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6" name="TextBox 11">
            <a:extLst>
              <a:ext uri="{FF2B5EF4-FFF2-40B4-BE49-F238E27FC236}">
                <a16:creationId xmlns:a16="http://schemas.microsoft.com/office/drawing/2014/main" id="{AE660C2A-33BB-4ECB-BBB4-41DFEE1D0191}"/>
              </a:ext>
            </a:extLst>
          </p:cNvPr>
          <p:cNvSpPr txBox="1"/>
          <p:nvPr/>
        </p:nvSpPr>
        <p:spPr>
          <a:xfrm>
            <a:off x="2720300" y="8832371"/>
            <a:ext cx="11452901" cy="1747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5"/>
              </a:lnSpc>
            </a:pPr>
            <a:r>
              <a:rPr lang="en-US" sz="3600" dirty="0">
                <a:solidFill>
                  <a:srgbClr val="002060"/>
                </a:solidFill>
              </a:rPr>
              <a:t>Helps students make smarter career decisions without needing expensive career counseling.</a:t>
            </a:r>
          </a:p>
          <a:p>
            <a:pPr algn="l">
              <a:lnSpc>
                <a:spcPts val="4555"/>
              </a:lnSpc>
            </a:pPr>
            <a:endParaRPr lang="en-US" sz="32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14158DD1-908C-4363-A11A-DF7AED75B6DD}"/>
              </a:ext>
            </a:extLst>
          </p:cNvPr>
          <p:cNvSpPr/>
          <p:nvPr/>
        </p:nvSpPr>
        <p:spPr>
          <a:xfrm>
            <a:off x="1470360" y="8960949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 advTm="1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08641" y="2068638"/>
            <a:ext cx="12913724" cy="8323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/>
              <a:t>Personalized Q&amp;A:</a:t>
            </a:r>
            <a:r>
              <a:rPr lang="en-IN" sz="3600" dirty="0"/>
              <a:t> Career queries answered dynamically.</a:t>
            </a:r>
          </a:p>
          <a:p>
            <a:endParaRPr lang="en-IN" sz="3600" dirty="0"/>
          </a:p>
          <a:p>
            <a:r>
              <a:rPr lang="en-IN" sz="3600" b="1" dirty="0"/>
              <a:t>Interactive Roadmaps:</a:t>
            </a:r>
            <a:r>
              <a:rPr lang="en-IN" sz="3600" dirty="0"/>
              <a:t> Step-by-step path to become Data Scientist, AI Engineer, Cybersecurity Analyst, etc.</a:t>
            </a:r>
          </a:p>
          <a:p>
            <a:endParaRPr lang="en-IN" sz="3600" dirty="0"/>
          </a:p>
          <a:p>
            <a:r>
              <a:rPr lang="en-IN" sz="3600" b="1" dirty="0"/>
              <a:t>Resource Recommendation:</a:t>
            </a:r>
            <a:r>
              <a:rPr lang="en-IN" sz="3600" dirty="0"/>
              <a:t> Free platforms (Kaggle, Coursera, edX, YouTube) + premium options.</a:t>
            </a:r>
          </a:p>
          <a:p>
            <a:endParaRPr lang="en-IN" sz="3600" dirty="0"/>
          </a:p>
          <a:p>
            <a:r>
              <a:rPr lang="en-IN" sz="3600" b="1" dirty="0"/>
              <a:t>Feedback System:</a:t>
            </a:r>
            <a:r>
              <a:rPr lang="en-IN" sz="3600" dirty="0"/>
              <a:t> Complaint &amp; suggestion form for improvement.</a:t>
            </a:r>
          </a:p>
          <a:p>
            <a:endParaRPr lang="en-IN" sz="3600" dirty="0"/>
          </a:p>
          <a:p>
            <a:r>
              <a:rPr lang="en-IN" sz="3600" b="1" dirty="0"/>
              <a:t>Ease of Use:</a:t>
            </a:r>
            <a:r>
              <a:rPr lang="en-IN" sz="3600" dirty="0"/>
              <a:t> Simple UI with </a:t>
            </a:r>
            <a:r>
              <a:rPr lang="en-IN" sz="3600" dirty="0" err="1"/>
              <a:t>Gradio</a:t>
            </a:r>
            <a:r>
              <a:rPr lang="en-IN" sz="3600" dirty="0"/>
              <a:t> + Web frontend.</a:t>
            </a:r>
          </a:p>
          <a:p>
            <a:endParaRPr lang="en-IN" sz="3600" dirty="0"/>
          </a:p>
          <a:p>
            <a:r>
              <a:rPr lang="en-IN" sz="3600" b="1" dirty="0"/>
              <a:t>Scalable:</a:t>
            </a:r>
            <a:r>
              <a:rPr lang="en-IN" sz="3600" dirty="0"/>
              <a:t> Easily extendable to voice, resume analysis, placement support.</a:t>
            </a:r>
          </a:p>
          <a:p>
            <a:pPr algn="l">
              <a:lnSpc>
                <a:spcPts val="4555"/>
              </a:lnSpc>
            </a:pPr>
            <a:endParaRPr lang="en-US" sz="3253" dirty="0">
              <a:solidFill>
                <a:srgbClr val="002B58"/>
              </a:solidFill>
              <a:latin typeface="Monda"/>
              <a:ea typeface="Monda"/>
              <a:cs typeface="Monda"/>
              <a:sym typeface="Monda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37917" y="491484"/>
            <a:ext cx="9672231" cy="138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7200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Features &amp; Scope</a:t>
            </a:r>
          </a:p>
        </p:txBody>
      </p:sp>
      <p:sp>
        <p:nvSpPr>
          <p:cNvPr id="9" name="Freeform 9"/>
          <p:cNvSpPr/>
          <p:nvPr/>
        </p:nvSpPr>
        <p:spPr>
          <a:xfrm>
            <a:off x="2008336" y="2102866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85C63E18-5EB1-4E65-8812-3CF7A6936814}"/>
              </a:ext>
            </a:extLst>
          </p:cNvPr>
          <p:cNvSpPr/>
          <p:nvPr/>
        </p:nvSpPr>
        <p:spPr>
          <a:xfrm>
            <a:off x="2008336" y="3213099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72961D65-C99E-4995-A3A9-7D008187845B}"/>
              </a:ext>
            </a:extLst>
          </p:cNvPr>
          <p:cNvSpPr/>
          <p:nvPr/>
        </p:nvSpPr>
        <p:spPr>
          <a:xfrm>
            <a:off x="2008336" y="4771783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EC89A46E-06AB-4F99-8905-D7D24E5338AF}"/>
              </a:ext>
            </a:extLst>
          </p:cNvPr>
          <p:cNvSpPr/>
          <p:nvPr/>
        </p:nvSpPr>
        <p:spPr>
          <a:xfrm>
            <a:off x="2008337" y="6399494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6F015E2D-C582-47F4-A09D-9F560F2E50DA}"/>
              </a:ext>
            </a:extLst>
          </p:cNvPr>
          <p:cNvSpPr/>
          <p:nvPr/>
        </p:nvSpPr>
        <p:spPr>
          <a:xfrm>
            <a:off x="1997072" y="7564582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1C1212A3-537B-42E3-B5B4-D271D92EC317}"/>
              </a:ext>
            </a:extLst>
          </p:cNvPr>
          <p:cNvSpPr/>
          <p:nvPr/>
        </p:nvSpPr>
        <p:spPr>
          <a:xfrm>
            <a:off x="2008337" y="8677965"/>
            <a:ext cx="587071" cy="650760"/>
          </a:xfrm>
          <a:custGeom>
            <a:avLst/>
            <a:gdLst/>
            <a:ahLst/>
            <a:cxnLst/>
            <a:rect l="l" t="t" r="r" b="b"/>
            <a:pathLst>
              <a:path w="587071" h="650760">
                <a:moveTo>
                  <a:pt x="0" y="0"/>
                </a:moveTo>
                <a:lnTo>
                  <a:pt x="587071" y="0"/>
                </a:lnTo>
                <a:lnTo>
                  <a:pt x="587071" y="650760"/>
                </a:lnTo>
                <a:lnTo>
                  <a:pt x="0" y="650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59089" y="574216"/>
            <a:ext cx="9672231" cy="138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TECH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8352" y="2663839"/>
            <a:ext cx="3883039" cy="890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FRONTEND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73990" y="2663839"/>
            <a:ext cx="4553661" cy="89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BACKEND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B4C8188C-8560-4730-BB3C-6B8908CE588F}"/>
              </a:ext>
            </a:extLst>
          </p:cNvPr>
          <p:cNvSpPr txBox="1"/>
          <p:nvPr/>
        </p:nvSpPr>
        <p:spPr>
          <a:xfrm>
            <a:off x="11481345" y="2690767"/>
            <a:ext cx="4553661" cy="89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9"/>
              </a:lnSpc>
            </a:pPr>
            <a:r>
              <a:rPr lang="en-US" sz="5135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AI LAYER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6B75A489-6FFE-439F-B315-BAEAD3A4D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946" y="3746249"/>
            <a:ext cx="460575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Gradio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(for chatbot UI)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HTML, CSS, JavaScript (landing page &amp; integration)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FAF51E8-6504-4D98-B221-9333881DE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986" y="3731651"/>
            <a:ext cx="460575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+ Express.js (API layer)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(user queries, feedback, history)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F70284-0B9C-48E1-9DEE-DF9D619CCDB2}"/>
              </a:ext>
            </a:extLst>
          </p:cNvPr>
          <p:cNvSpPr/>
          <p:nvPr/>
        </p:nvSpPr>
        <p:spPr>
          <a:xfrm>
            <a:off x="10916548" y="3607747"/>
            <a:ext cx="576284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4000" b="1" dirty="0"/>
              <a:t>Target (final deployment):</a:t>
            </a:r>
            <a:r>
              <a:rPr lang="en-IN" sz="4000" dirty="0"/>
              <a:t> </a:t>
            </a:r>
            <a:r>
              <a:rPr lang="en-IN" sz="4000" dirty="0" err="1"/>
              <a:t>OpenAI</a:t>
            </a:r>
            <a:r>
              <a:rPr lang="en-IN" sz="4000" dirty="0"/>
              <a:t> API (</a:t>
            </a:r>
            <a:r>
              <a:rPr lang="en-IN" sz="4000" dirty="0" err="1"/>
              <a:t>ChatGPT</a:t>
            </a:r>
            <a:r>
              <a:rPr lang="en-IN" sz="4000" dirty="0"/>
              <a:t>-style models)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b="1" dirty="0"/>
              <a:t>Prototype (demo):</a:t>
            </a:r>
            <a:r>
              <a:rPr lang="en-IN" sz="4000" dirty="0"/>
              <a:t> Hugging Face Transformers (Roberta-base model) using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8" y="5039691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-1280483" y="-701623"/>
            <a:ext cx="9295205" cy="5948931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3420266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46086" y="6399494"/>
            <a:ext cx="5568589" cy="7775011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43480" y="4136923"/>
            <a:ext cx="12801040" cy="181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sz="106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354</Words>
  <Application>Microsoft Office PowerPoint</Application>
  <PresentationFormat>Custom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Calibri</vt:lpstr>
      <vt:lpstr>Monda Bold</vt:lpstr>
      <vt:lpstr>Arial</vt:lpstr>
      <vt:lpstr>Garamond Bold</vt:lpstr>
      <vt:lpstr>Arial Bold</vt:lpstr>
      <vt:lpstr>Times New Roman</vt:lpstr>
      <vt:lpstr>Arial Rounded MT Bold</vt:lpstr>
      <vt:lpstr>Monda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10</cp:revision>
  <dcterms:created xsi:type="dcterms:W3CDTF">2006-08-16T00:00:00Z</dcterms:created>
  <dcterms:modified xsi:type="dcterms:W3CDTF">2025-09-15T16:39:08Z</dcterms:modified>
  <dc:identifier>DAGy3fUklh4</dc:identifier>
</cp:coreProperties>
</file>